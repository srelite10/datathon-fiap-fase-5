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5070A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· FASE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Mágicos: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9F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dados ao ponto de virada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4114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desenvolvimento educacional 2022–2024 e modelo preditivo de risco de defasagem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8368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108</a:t>
            </a:r>
            <a:pPr indent="0" marL="0">
              <a:buNone/>
            </a:pPr>
            <a:r>
              <a:rPr lang="en-US" sz="1200" dirty="0">
                <a:solidFill>
                  <a:srgbClr val="9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PosTech Data Analytics   ·   Agosto 2026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570585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" kern="0" dirty="0">
                <a:solidFill>
                  <a:srgbClr val="C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Soares    Cibele de Assis    José Ricardo Peroto    Alex Moreira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4650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C3D9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46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572768"/>
            <a:ext cx="9902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  </a:t>
            </a:r>
            <a:pPr algn="l" indent="0" marL="0">
              <a:buNone/>
            </a:pPr>
            <a:r>
              <a:rPr lang="en-US" sz="13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a Passos Mágicos e por que os dados importam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974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C3D9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523744"/>
            <a:ext cx="9902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  </a:t>
            </a:r>
            <a:pPr algn="l" indent="0" marL="0">
              <a:buNone/>
            </a:pPr>
            <a:r>
              <a:rPr lang="en-US" sz="13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INDE é formado e a base de dados usada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64845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C3D9E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648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474720"/>
            <a:ext cx="9902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por indicador   </a:t>
            </a:r>
            <a:pPr algn="l" indent="0" marL="0">
              <a:buNone/>
            </a:pPr>
            <a:r>
              <a:rPr lang="en-US" sz="13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11 perguntas do desafio, respondidas com dados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59943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C3D9E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599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425696"/>
            <a:ext cx="9902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defasagem   </a:t>
            </a:r>
            <a:pPr algn="l" indent="0" marL="0">
              <a:buNone/>
            </a:pPr>
            <a:r>
              <a:rPr lang="en-US" sz="13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 do modelo preditivo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76672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5504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C3D9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550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376672"/>
            <a:ext cx="9902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  </a:t>
            </a:r>
            <a:pPr algn="l" indent="0" marL="0">
              <a:buNone/>
            </a:pPr>
            <a:r>
              <a:rPr lang="en-US" sz="13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sugerimos para a Passos Mágicos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a Passos Mágicos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1755648"/>
            <a:ext cx="182880" cy="182880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6420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1975104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por Michelle Flues e Dimetri Ivanoff, em orfanatos de Embu-Guaçu (SP).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" y="2926080"/>
            <a:ext cx="182880" cy="182880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8346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14553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se torna a Associação Passos Mágicos, ampliando o acesso a mais jovens.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" y="4096512"/>
            <a:ext cx="182880" cy="182880"/>
          </a:xfrm>
          <a:prstGeom prst="ellipse">
            <a:avLst/>
          </a:prstGeom>
          <a:solidFill>
            <a:srgbClr val="B9860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00507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3159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anos usando a educação como ferramenta de transformação para crianças e jovens em vulnerabilidade social.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1828800"/>
            <a:ext cx="0" cy="3063240"/>
          </a:xfrm>
          <a:prstGeom prst="line">
            <a:avLst/>
          </a:prstGeom>
          <a:noFill/>
          <a:ln w="19050">
            <a:solidFill>
              <a:srgbClr val="E4E1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727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PILARES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956816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2FB"/>
          </a:solidFill>
          <a:ln/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01968" y="21214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3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01968" y="261518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de qualidade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70848" y="1956816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2FB"/>
          </a:solidFill>
          <a:ln/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72016" y="21214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3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72016" y="261518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psicológico e psicopedagógico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3483864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2FB"/>
          </a:solidFill>
          <a:ln/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01968" y="364845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3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601968" y="414223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da visão de mundo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070848" y="3483864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2FB"/>
          </a:solidFill>
          <a:ln/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72016" y="364845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3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272016" y="414223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INDE é formado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59536" cy="566928"/>
          </a:xfrm>
          <a:prstGeom prst="roundRect">
            <a:avLst>
              <a:gd name="adj" fmla="val 12903"/>
            </a:avLst>
          </a:prstGeom>
          <a:solidFill>
            <a:srgbClr val="F4F2FB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36192" y="1737360"/>
            <a:ext cx="859536" cy="566928"/>
          </a:xfrm>
          <a:prstGeom prst="roundRect">
            <a:avLst>
              <a:gd name="adj" fmla="val 12903"/>
            </a:avLst>
          </a:prstGeom>
          <a:solidFill>
            <a:srgbClr val="F4F2FB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192" y="173736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23744" y="1737360"/>
            <a:ext cx="859536" cy="566928"/>
          </a:xfrm>
          <a:prstGeom prst="roundRect">
            <a:avLst>
              <a:gd name="adj" fmla="val 12903"/>
            </a:avLst>
          </a:prstGeom>
          <a:solidFill>
            <a:srgbClr val="F4F2FB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73736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11296" y="1737360"/>
            <a:ext cx="859536" cy="566928"/>
          </a:xfrm>
          <a:prstGeom prst="roundRect">
            <a:avLst>
              <a:gd name="adj" fmla="val 12903"/>
            </a:avLst>
          </a:prstGeom>
          <a:solidFill>
            <a:srgbClr val="F4F2FB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73736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98848" y="1737360"/>
            <a:ext cx="859536" cy="566928"/>
          </a:xfrm>
          <a:prstGeom prst="roundRect">
            <a:avLst>
              <a:gd name="adj" fmla="val 12903"/>
            </a:avLst>
          </a:prstGeom>
          <a:solidFill>
            <a:srgbClr val="F4F2FB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73736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0" y="1737360"/>
            <a:ext cx="859536" cy="566928"/>
          </a:xfrm>
          <a:prstGeom prst="roundRect">
            <a:avLst>
              <a:gd name="adj" fmla="val 12903"/>
            </a:avLst>
          </a:prstGeom>
          <a:solidFill>
            <a:srgbClr val="F4F2FB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73736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73952" y="1737360"/>
            <a:ext cx="859536" cy="566928"/>
          </a:xfrm>
          <a:prstGeom prst="roundRect">
            <a:avLst>
              <a:gd name="adj" fmla="val 12903"/>
            </a:avLst>
          </a:prstGeom>
          <a:solidFill>
            <a:srgbClr val="F4F2FB"/>
          </a:solidFill>
          <a:ln w="12700">
            <a:solidFill>
              <a:srgbClr val="E4E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737360"/>
            <a:ext cx="859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64040" y="1682496"/>
            <a:ext cx="2176272" cy="676656"/>
          </a:xfrm>
          <a:prstGeom prst="roundRect">
            <a:avLst>
              <a:gd name="adj" fmla="val 13514"/>
            </a:avLst>
          </a:prstGeom>
          <a:solidFill>
            <a:srgbClr val="4C3D9E"/>
          </a:solidFill>
          <a:ln/>
          <a:effectLst>
            <a:outerShdw sx="100000" sy="100000" kx="0" ky="0" algn="bl" rotWithShape="0" blurRad="88900" dist="25400" dir="5400000">
              <a:srgbClr val="1A1633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64040" y="1682496"/>
            <a:ext cx="21762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" y="261518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cada aluno em uma  Pedra 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054096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3346704"/>
            <a:ext cx="457200" cy="457200"/>
          </a:xfrm>
          <a:prstGeom prst="ellipse">
            <a:avLst/>
          </a:prstGeom>
          <a:solidFill>
            <a:srgbClr val="9A94B2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332841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Quartzo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4672" y="398678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60" kern="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INDE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" y="4224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9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2,405 – 5,506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55848" y="3054096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11880" y="3346704"/>
            <a:ext cx="457200" cy="457200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30" name="Text 28"/>
          <p:cNvSpPr/>
          <p:nvPr/>
        </p:nvSpPr>
        <p:spPr>
          <a:xfrm>
            <a:off x="4224528" y="332841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Ágata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11880" y="398678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60" kern="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INDE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1880" y="4224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5,506 – 6,868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63056" y="3054096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19088" y="3346704"/>
            <a:ext cx="457200" cy="457200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35" name="Text 33"/>
          <p:cNvSpPr/>
          <p:nvPr/>
        </p:nvSpPr>
        <p:spPr>
          <a:xfrm>
            <a:off x="7031736" y="332841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Ametista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19088" y="398678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60" kern="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INDE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19088" y="4224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6,868 – 8,230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970264" y="3054096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226296" y="3346704"/>
            <a:ext cx="457200" cy="457200"/>
          </a:xfrm>
          <a:prstGeom prst="ellipse">
            <a:avLst/>
          </a:prstGeom>
          <a:solidFill>
            <a:srgbClr val="B9860B"/>
          </a:solidFill>
          <a:ln/>
        </p:spPr>
      </p:sp>
      <p:sp>
        <p:nvSpPr>
          <p:cNvPr id="40" name="Text 38"/>
          <p:cNvSpPr/>
          <p:nvPr/>
        </p:nvSpPr>
        <p:spPr>
          <a:xfrm>
            <a:off x="9838944" y="332841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Topázio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226296" y="398678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60" kern="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INDE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226296" y="4224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8,230 – 9,294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as siglas explicitamente aqui evita que a diretoria se perca no restante da apresentação — é o glossário visual do case.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amostra: 2022 a 2024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4C3D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1.156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85800" y="27249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avaliados em 2024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0" y="3200400"/>
            <a:ext cx="2103120" cy="0"/>
          </a:xfrm>
          <a:prstGeom prst="line">
            <a:avLst/>
          </a:prstGeom>
          <a:noFill/>
          <a:ln w="12700">
            <a:solidFill>
              <a:srgbClr val="E4E1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101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8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85876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presentes nos 3 anos — o painel usado nas análises de evolução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1700784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 → 1.014 → 1.156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avaliados por ano, crescimento contínuo da base.</a:t>
            </a:r>
            <a:endParaRPr lang="en-US" sz="13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alunos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aparecem nos três anos — é o painel para análises por aluno.</a:t>
            </a:r>
            <a:endParaRPr lang="en-US" sz="13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de junção: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(matrícula), estável entre as abas da base.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1627632"/>
            <a:ext cx="4736592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12" name="Image 0" descr="assets/c_amos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312" y="2352786"/>
            <a:ext cx="4407408" cy="2115853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de 468 alunos permite falar em evolução por aluno, não apenas em média de turma — é a base metodológica de boa parte da apresentação.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 · IAN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defasagem em 2024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4C3D9E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8064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6" name="Image 0" descr="assets/c_defasag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26790"/>
            <a:ext cx="5477256" cy="27678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17373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 alunos (46%)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abaixo do nível ideal.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 alunos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em −1 fase — defasagem leve e recuperável.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alunos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situação mais severa (−2 ou −3 fases).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metade da base tem alguma defasagem, mas é predominantemente leve — reforço focado em −1 fase tem potencial de recuperar o maior grupo.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2 · 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acadêmico ao longo do tempo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4C3D9E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em 2023 (6,09 → 6,66) e recua em 2024 (6,35).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subindo nos 3 anos (7,04 → 7,34 → 7,40).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acadêmico não é linear — vale investigar o que puxou 2024 para baixo.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33872" y="1627632"/>
            <a:ext cx="58064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7" name="Image 0" descr="assets/c_ida_in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2093768"/>
            <a:ext cx="5477256" cy="263388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BE4A34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BE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IDA não vem melhorando de forma consistente — 2024 teve recuo mesmo com o INDE geral subindo, sinal de que outros indicadores estão compensando a nota.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3 · IEG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Engajamento, desempenho e ponto de virada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4C3D9E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8064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6" name="Image 0" descr="assets/c_i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67146"/>
            <a:ext cx="5477256" cy="268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17373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× IDA = 0,54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correlação moderada e positiva com a aprendizagem.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× IPV = 0,54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engajamento acompanha o ponto de virada na mesma intensidade.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se relaciona de forma consistente tanto com aprendizagem quanto com o ponto de virada — reforça o engajamento como alavanca de intervenção.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 · IAA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autopercepção é coerente com o desempenho real?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4C3D9E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4297680" cy="3493008"/>
          </a:xfrm>
          <a:prstGeom prst="roundRect">
            <a:avLst>
              <a:gd name="adj" fmla="val 2094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BE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0,22 / 0,23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fracas — a autoavaliação não reflete bem o desempenho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874520"/>
            <a:ext cx="64282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 × IDA = 0,22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correlação fraca com o desempenho acadêmico.</a:t>
            </a:r>
            <a:endParaRPr lang="en-US" sz="14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 × IEG = 0,23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também fraca com o engajamento.</a:t>
            </a:r>
            <a:endParaRPr lang="en-US" sz="14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alunos se autoavaliam tem baixa relação com seu desempenho e engajamento medidos.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BE4A3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BE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autopercepção do aluno é um sinal fraco isoladamente — não deve substituir os indicadores objetivos (IDA/IEG) na priorização de apoio.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 · IPS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Aspectos psicossociais antecedem quedas?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4C3D9E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4297680" cy="3493008"/>
          </a:xfrm>
          <a:prstGeom prst="roundRect">
            <a:avLst>
              <a:gd name="adj" fmla="val 2094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6C6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× IDA no corte de 2024 — relação concorrente praticamente nula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874520"/>
            <a:ext cx="64282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transversal de 2024: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× IDA = 0,01 — nenhuma relação instantânea observável.</a:t>
            </a:r>
            <a:endParaRPr lang="en-US" sz="14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 defasagem temporal (IPS do ano anterior → queda no ano seguinte) usando o painel de 468 alunos — é o teste que realmente responde à pergunta.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B986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B9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HONESTA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corte transversal não mostra relação — isso não descarta o efeito psicossocial, apenas mostra que ele precisa ser testado de forma longitudinal, não instantânea.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6 · IPP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IPP confirma a defasagem apontada pelo IAN?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4C3D9E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4297680" cy="3493008"/>
          </a:xfrm>
          <a:prstGeom prst="roundRect">
            <a:avLst>
              <a:gd name="adj" fmla="val 2094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BE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0,15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IPP × IAN em 2024 — divergem mais do que confirmam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874520"/>
            <a:ext cx="64282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apenas 0,15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IPP e IAN em 2024.</a:t>
            </a:r>
            <a:endParaRPr lang="en-US" sz="14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psicopedagógica e a defasagem de nível medem coisas distintas — não são intercambiáveis.</a:t>
            </a:r>
            <a:endParaRPr lang="en-US" sz="14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IPP só passou a existir na base a partir de 2023.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BE4A3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BE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e IAN divergem mais do que confirmam — sugere que a avaliação psicopedagógica capta uma dimensão que o indicador de nível sozinho não vê.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7 · IPV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influencia o Ponto de Virada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4C3D9E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4297680" cy="3493008"/>
          </a:xfrm>
          <a:prstGeom prst="roundRect">
            <a:avLst>
              <a:gd name="adj" fmla="val 2094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8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0,54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IEG × IPV — o sinal mais forte observado até aqui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874520"/>
            <a:ext cx="64282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sinal mais forte observado até aqui (correlação 0,54 com IPV).</a:t>
            </a:r>
            <a:endParaRPr lang="en-US" sz="140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40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e IPP </a:t>
            </a:r>
            <a:pPr algn="l" indent="0" marL="0">
              <a:lnSpc>
                <a:spcPct val="104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compõem o quadro — ver o slide de multidimensionalidade a seguir.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é o comportamento mais associado ao ponto de virada entre os indicadores testados — candidato natural à variável de maior peso no modelo de risco.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8 · MULTIDIMENSIONALIDADE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eleva o INDE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2E2568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8064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6" name="Image 0" descr="assets/c_multid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23675"/>
            <a:ext cx="5477256" cy="2774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17373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(0,80) e IEG (0,79)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maiores puxadores do INDE.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(0,64)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pesa bastante — mais que IAN, IAA e IPS.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(0,22)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menos se relaciona isoladamente com a nota final.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+ engajamento + avaliação psicopedagógica formam o trio que mais move o INDE — é onde a intervenção tem o maior retorno esperado.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9 · MACHINE LEARNING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risco de defasagem — abordagem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77440"/>
            <a:ext cx="603504" cy="603504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3127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52958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IAN, IDA, IEG, IPS, IPP, IAA do ano 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45536" y="292608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377440"/>
            <a:ext cx="603504" cy="603504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9312" y="3127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Alvo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39312" y="352958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no ano t+1  (Defasagem &lt; 0)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0176" y="292608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377440"/>
            <a:ext cx="603504" cy="603504"/>
          </a:xfrm>
          <a:prstGeom prst="ellipse">
            <a:avLst/>
          </a:prstGeom>
          <a:solidFill>
            <a:srgbClr val="B9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73952" y="3127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73952" y="352958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468 alunos com histórico 2022–2024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14816" y="292608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21031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08592" y="2377440"/>
            <a:ext cx="603504" cy="603504"/>
          </a:xfrm>
          <a:prstGeom prst="ellipse">
            <a:avLst/>
          </a:prstGeom>
          <a:solidFill>
            <a:srgbClr val="BE4A34"/>
          </a:solidFill>
          <a:ln/>
        </p:spPr>
      </p:sp>
      <p:sp>
        <p:nvSpPr>
          <p:cNvPr id="24" name="Text 22"/>
          <p:cNvSpPr/>
          <p:nvPr/>
        </p:nvSpPr>
        <p:spPr>
          <a:xfrm>
            <a:off x="9308592" y="2377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08592" y="3127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08592" y="352958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de risco por aluno, consumida no app Streamlit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com feature engineering, split treino/teste, modelagem e avaliação é entregue à parte — aqui mostramos a lógica de negócio que sustenta o app de risco.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10 · EFETIVIDADE DO PROGRAMA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das Pedras ao longo do ciclo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680192" y="457200"/>
            <a:ext cx="960120" cy="402336"/>
          </a:xfrm>
          <a:prstGeom prst="roundRect">
            <a:avLst>
              <a:gd name="adj" fmla="val 20455"/>
            </a:avLst>
          </a:prstGeom>
          <a:solidFill>
            <a:srgbClr val="B9860B"/>
          </a:solidFill>
          <a:ln/>
          <a:effectLst>
            <a:outerShdw sx="100000" sy="100000" kx="0" ky="0" algn="bl" rotWithShape="0" blurRad="76200" dist="25400" dir="5400000">
              <a:srgbClr val="1A163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8064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6" name="Image 0" descr="assets/c_ped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15713"/>
            <a:ext cx="5477256" cy="2589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17373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Topázio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de 25,7% (2020) para 30,9% (2024) da base com Pedra registrada.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Ametista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recua de 58,6% para 37,1% no mesmo período.</a:t>
            </a:r>
            <a:endParaRPr lang="en-US" sz="1350" dirty="0"/>
          </a:p>
          <a:p>
            <a:pPr algn="l"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</a:t>
            </a:r>
            <a:pPr algn="l"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alunos com Pedra registrada cresce a cada ano — leitura direcional, não estritamente causal.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sinal de subida na Pedra mais alta ao longo do tempo — consistente com efetividade do programa, mas a comparação exige controlar o crescimento da amostra.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11 · INSIGHTS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rede de ensino explica parte da defasagem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53212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5" name="Image 0" descr="assets/c_institui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41404"/>
            <a:ext cx="5202936" cy="26300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627632"/>
            <a:ext cx="5468112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3">
                <a:alpha val="10000"/>
              </a:srgbClr>
            </a:outerShdw>
          </a:effectLst>
        </p:spPr>
      </p:sp>
      <p:pic>
        <p:nvPicPr>
          <p:cNvPr id="7" name="Image 1" descr="assets/c_tem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780" y="1792224"/>
            <a:ext cx="4136953" cy="33284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285232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média por tipo de rede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172200" y="5285232"/>
            <a:ext cx="5468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média por tempo de instituição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5559552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86384" y="5715000"/>
            <a:ext cx="128016" cy="128016"/>
          </a:xfrm>
          <a:prstGeom prst="ellipse">
            <a:avLst/>
          </a:prstGeom>
          <a:solidFill>
            <a:srgbClr val="4C3D9E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56327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86384" y="587044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da base (913 alunos) está em escola pública, e é esse grupo que puxa a defasagem geral para baixo (−0,61). Trilhas privadas / bolsa / apadrinhamento estão, em média, ACIMA do nível ideal — o reforço da Passos Mágicos é mais decisivo para quem depende só da rede pública.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11 · INSIGHTS (CONT.)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direções exploradas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56816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F8A7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FORTE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5054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na instituição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entrou há 0–1 ano está mais defasado (−0,66) do que quem já está há 2–3 anos (−0,14). Correlação tempo × defasagem = 0,33.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664208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1956816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B9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FRACO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90288" y="25054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Gênero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0288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pequena entre Feminino (INDE 7,48) e Masculino (INDE 7,30). Sinal fraco, não acionável isoladamente.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664208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88900" dist="25400" dir="5400000">
              <a:srgbClr val="1A1633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1956816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6C678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57616" y="25054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Bolsista / Indicado a bolsa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57616" y="32918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vazia na base de 2024 — não foi possível testar essa hipótese com os dados disponíveis.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4F2FB"/>
          </a:solidFill>
          <a:ln/>
          <a:effectLst>
            <a:outerShdw sx="100000" sy="100000" kx="0" ky="0" algn="bl" rotWithShape="0" blurRad="88900" dist="25400" dir="5400000">
              <a:srgbClr val="1A16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5660136"/>
            <a:ext cx="128016" cy="128016"/>
          </a:xfrm>
          <a:prstGeom prst="ellipse">
            <a:avLst/>
          </a:prstGeom>
          <a:solidFill>
            <a:srgbClr val="1F8A7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60" kern="0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6384" y="581558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na instituição é o achado de suporte mais forte dos três — vale citar como segunda evidência de que o programa funciona ao longo do tempo.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para a Passos Mágicos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49824" cy="1481328"/>
          </a:xfrm>
          <a:prstGeom prst="roundRect">
            <a:avLst>
              <a:gd name="adj" fmla="val 493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836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C3D9E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83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44752" y="184708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 grupo −1 fase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231136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 alunos — a maior massa recuperável com esforço direcionado.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8032" y="18288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0488" y="1627632"/>
            <a:ext cx="5449824" cy="1481328"/>
          </a:xfrm>
          <a:prstGeom prst="roundRect">
            <a:avLst>
              <a:gd name="adj" fmla="val 493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8836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8A78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883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84708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IEG como alavanca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86600" y="2231136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é o sinal mais consistente ligado a IDA e IPV.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69880" y="18288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40" kern="0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07 · 11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5449824" cy="1481328"/>
          </a:xfrm>
          <a:prstGeom prst="roundRect">
            <a:avLst>
              <a:gd name="adj" fmla="val 493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351129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BE4A3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511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4752" y="347472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IAA com cautela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44752" y="3858768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não substitui IDA/IEG na priorização de apoio.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345643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40" kern="0" dirty="0">
                <a:solidFill>
                  <a:srgbClr val="BE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90488" y="3255264"/>
            <a:ext cx="5449824" cy="1481328"/>
          </a:xfrm>
          <a:prstGeom prst="roundRect">
            <a:avLst>
              <a:gd name="adj" fmla="val 493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28232" y="351129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B9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511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347472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IPS de forma longitudinal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086600" y="3858768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psicossocial pode ser antecedente, não concorrente.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69880" y="345643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40" kern="0" dirty="0">
                <a:solidFill>
                  <a:srgbClr val="B9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882896"/>
            <a:ext cx="5449824" cy="1481328"/>
          </a:xfrm>
          <a:prstGeom prst="roundRect">
            <a:avLst>
              <a:gd name="adj" fmla="val 493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" y="513892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C3D9E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138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44752" y="510235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extra para a rede pública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444752" y="5486400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a defasagem se concentra; trilhas privadas já estão acima do ideal.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508406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40" kern="0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0488" y="4882896"/>
            <a:ext cx="5449824" cy="1481328"/>
          </a:xfrm>
          <a:prstGeom prst="roundRect">
            <a:avLst>
              <a:gd name="adj" fmla="val 4938"/>
            </a:avLst>
          </a:prstGeom>
          <a:solidFill>
            <a:srgbClr val="FBFAFE"/>
          </a:solidFill>
          <a:ln w="12700">
            <a:solidFill>
              <a:srgbClr val="E4E1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633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28232" y="513892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F8A78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5138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86600" y="510235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o app de risco na rotina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086600" y="5486400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probabilidade do modelo no acompanhamento contínuo.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469880" y="508406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40" kern="0" dirty="0">
                <a:solidFill>
                  <a:srgbClr val="1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 ·  Passos Mágicos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5256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3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r" indent="0" marL="0">
              <a:buNone/>
            </a:pPr>
            <a:r>
              <a:rPr lang="en-US" sz="900" dirty="0">
                <a:solidFill>
                  <a:srgbClr val="6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46720" cy="6858000"/>
          </a:xfrm>
          <a:prstGeom prst="rect">
            <a:avLst/>
          </a:prstGeom>
          <a:solidFill>
            <a:srgbClr val="05070A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8368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Mágicos.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76656" y="331012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do desafio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13232" y="3895344"/>
            <a:ext cx="146304" cy="146304"/>
          </a:xfrm>
          <a:prstGeom prst="ellipse">
            <a:avLst/>
          </a:prstGeom>
          <a:solidFill>
            <a:srgbClr val="9F8FE8"/>
          </a:solidFill>
          <a:ln/>
        </p:spPr>
      </p:sp>
      <p:sp>
        <p:nvSpPr>
          <p:cNvPr id="8" name="Text 5"/>
          <p:cNvSpPr/>
          <p:nvPr/>
        </p:nvSpPr>
        <p:spPr>
          <a:xfrm>
            <a:off x="969264" y="37673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GitHub  —  </a:t>
            </a:r>
            <a:pPr indent="0" marL="0">
              <a:buNone/>
            </a:pPr>
            <a:r>
              <a:rPr lang="en-US" sz="1350" dirty="0">
                <a:solidFill>
                  <a:srgbClr val="B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limpeza e análise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13232" y="4370832"/>
            <a:ext cx="146304" cy="146304"/>
          </a:xfrm>
          <a:prstGeom prst="ellipse">
            <a:avLst/>
          </a:prstGeom>
          <a:solidFill>
            <a:srgbClr val="9F8FE8"/>
          </a:solidFill>
          <a:ln/>
        </p:spPr>
      </p:sp>
      <p:sp>
        <p:nvSpPr>
          <p:cNvPr id="10" name="Text 7"/>
          <p:cNvSpPr/>
          <p:nvPr/>
        </p:nvSpPr>
        <p:spPr>
          <a:xfrm>
            <a:off x="969264" y="42428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  —  </a:t>
            </a:r>
            <a:pPr indent="0" marL="0">
              <a:buNone/>
            </a:pPr>
            <a:r>
              <a:rPr lang="en-US" sz="1350" dirty="0">
                <a:solidFill>
                  <a:srgbClr val="B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risco em produção (Community Cloud)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13232" y="4846320"/>
            <a:ext cx="146304" cy="146304"/>
          </a:xfrm>
          <a:prstGeom prst="ellipse">
            <a:avLst/>
          </a:prstGeom>
          <a:solidFill>
            <a:srgbClr val="9F8FE8"/>
          </a:solidFill>
          <a:ln/>
        </p:spPr>
      </p:sp>
      <p:sp>
        <p:nvSpPr>
          <p:cNvPr id="12" name="Text 9"/>
          <p:cNvSpPr/>
          <p:nvPr/>
        </p:nvSpPr>
        <p:spPr>
          <a:xfrm>
            <a:off x="969264" y="47183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Python  —  </a:t>
            </a:r>
            <a:pPr indent="0" marL="0">
              <a:buNone/>
            </a:pPr>
            <a:r>
              <a:rPr lang="en-US" sz="1350" dirty="0">
                <a:solidFill>
                  <a:srgbClr val="B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treino/teste, avaliação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13232" y="5321808"/>
            <a:ext cx="146304" cy="146304"/>
          </a:xfrm>
          <a:prstGeom prst="ellipse">
            <a:avLst/>
          </a:prstGeom>
          <a:solidFill>
            <a:srgbClr val="9F8FE8"/>
          </a:solidFill>
          <a:ln/>
        </p:spPr>
      </p:sp>
      <p:sp>
        <p:nvSpPr>
          <p:cNvPr id="14" name="Text 11"/>
          <p:cNvSpPr/>
          <p:nvPr/>
        </p:nvSpPr>
        <p:spPr>
          <a:xfrm>
            <a:off x="969264" y="51937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(até 5 min)  —  </a:t>
            </a:r>
            <a:pPr indent="0" marL="0">
              <a:buNone/>
            </a:pPr>
            <a:r>
              <a:rPr lang="en-US" sz="1350" dirty="0">
                <a:solidFill>
                  <a:srgbClr val="B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storytelling e do modelo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Passos Mágicos — Datathon PosTech Fase 5</dc:title>
  <dc:subject>PptxGenJS Presentation</dc:subject>
  <dc:creator>Victor Soares</dc:creator>
  <cp:lastModifiedBy>Victor Soares</cp:lastModifiedBy>
  <cp:revision>1</cp:revision>
  <dcterms:created xsi:type="dcterms:W3CDTF">2026-08-09T22:42:48Z</dcterms:created>
  <dcterms:modified xsi:type="dcterms:W3CDTF">2026-08-09T22:42:48Z</dcterms:modified>
</cp:coreProperties>
</file>